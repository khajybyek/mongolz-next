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권한 마스킹 및 복원이 가능한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지능형 네트워크 카메라 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통합관제 서버 개발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MONGOLZ Security 플랫폼 구현 사례 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an Intelligent Network Camera and Integrated Control Server with Multi-Authority Masking and Restoration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3657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0749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Khajybyek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○○○ 교수님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캡스톤 디자인 (3B-26-1)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발표일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mongolz.vercel.app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 및 동기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920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Motivation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7373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737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제기 (P1–P5)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1920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Structural Limitations of Commercial CCTV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28600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37744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377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목표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2560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228600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37744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377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2560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Architecture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292608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017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017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알고리즘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32004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+ Anonymization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292608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3017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017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6948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69480" y="32004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+ Dual-Key Rotation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35661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365760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3657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1732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및 감사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17320" y="3840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/ Hash-Chain / Session Pinning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35661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29400" y="365760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3657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6948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69480" y="3840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Throughput, Accuracy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420624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429768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0D4FF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4297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417320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연구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417320" y="4480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 및 동기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VMS의 ‘이분법적’ 운영 한계와 다중 권한 마스킹의 필요성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94만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46888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런던 CCTV 카메라 (2022 영국 내무부)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468880" y="3429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회/일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3154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도심 시민 평균 CCTV 노출 횟수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720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468880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4663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LFW 벤치마크 식별률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발전이 가져온 양면성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19202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긍정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도심 강력 범죄 종결률 +18%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미아·치매환자 골든타임 단축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비인가 출입 차단 자동화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생체 정보 = GDPR Art.9 민감 정보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한국 개인정보보호법 §23 처리 금지 원칙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생체정보 유출 시 평균 손해액 2.3× (IBM 2023)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‘감시 효과(chilling effect)’ 우려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5216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1A1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 — "하나의 영상을, 시청자/운영자/관리자에게 ‘다른 마스킹 수준’ 으로 동시에 제공할 수 있는가?"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제기 — P1∼P5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VMS·CCTV·얼굴 인식 시스템의 다섯 가지 구조적 한계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12122A"/>
          </a:solidFill>
          <a:ln w="12700">
            <a:solidFill>
              <a:srgbClr val="FF38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2148840" cy="457200"/>
          </a:xfrm>
          <a:prstGeom prst="roundRect">
            <a:avLst>
              <a:gd name="adj" fmla="val 24000"/>
            </a:avLst>
          </a:prstGeom>
          <a:solidFill>
            <a:srgbClr val="FF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차등 마스킹 부재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‘식별/비식별’ 이분법만 존재 — 권한별 마스킹 수준 차등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55448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12122A"/>
          </a:solidFill>
          <a:ln w="12700">
            <a:solidFill>
              <a:srgbClr val="FF3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554480"/>
            <a:ext cx="2148840" cy="457200"/>
          </a:xfrm>
          <a:prstGeom prst="roundRect">
            <a:avLst>
              <a:gd name="adj" fmla="val 24000"/>
            </a:avLst>
          </a:prstGeom>
          <a:solidFill>
            <a:srgbClr val="FF3860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8960" y="2194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복원 절차 부재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54680" y="3108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마스킹된 영상의 ‘책임 추적 가능한 복원(Reveal)’ 절차 부재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55448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12122A"/>
          </a:solidFill>
          <a:ln w="12700">
            <a:solidFill>
              <a:srgbClr val="FF38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554480"/>
            <a:ext cx="2148840" cy="457200"/>
          </a:xfrm>
          <a:prstGeom prst="roundRect">
            <a:avLst>
              <a:gd name="adj" fmla="val 24000"/>
            </a:avLst>
          </a:prstGeom>
          <a:solidFill>
            <a:srgbClr val="FF386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194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분리 부재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3108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계층의 RLS 없이 앱 버그가 곧 전체 노출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35240" y="155448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12122A"/>
          </a:solidFill>
          <a:ln w="12700">
            <a:solidFill>
              <a:srgbClr val="FF38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1554480"/>
            <a:ext cx="2148840" cy="457200"/>
          </a:xfrm>
          <a:prstGeom prst="roundRect">
            <a:avLst>
              <a:gd name="adj" fmla="val 24000"/>
            </a:avLst>
          </a:prstGeom>
          <a:solidFill>
            <a:srgbClr val="FF3860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0" y="2194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가능성 부재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120" y="3108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로그가 평문, 사후 조작·삭제 차단 수단 없음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66960" y="155448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12122A"/>
          </a:solidFill>
          <a:ln w="12700">
            <a:solidFill>
              <a:srgbClr val="FF38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1554480"/>
            <a:ext cx="2148840" cy="457200"/>
          </a:xfrm>
          <a:prstGeom prst="roundRect">
            <a:avLst>
              <a:gd name="adj" fmla="val 24000"/>
            </a:avLst>
          </a:prstGeom>
          <a:solidFill>
            <a:srgbClr val="FF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0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104120" y="2194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인증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49840" y="3108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복원·재식별에 단일 비밀번호만 요구 → 피싱 취약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시스템은 이 5가지 문제를 ‘단일 통합 플랫폼 안에서 동시에’ 해결하는 것을 목표로 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목표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P1∼P5 에 정합된 5가지 구체적 목적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권한별 차등 마스킹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Viewer→완전 마스킹 / Operator→부분 / Admin→복원 가능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0" y="1554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606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추적 가능한 복원(Reveal)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3736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Step-up Auth + 사유 입력 + 감사 로그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0" y="2468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204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204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11개 테이블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계층 권한 분리 — 앱 버그 우회 불가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98480" y="3383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4348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해시 체인 감사 로그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3736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verify_audit_chain() 검증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98480" y="4297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0080" y="5212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3492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349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3736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다층 인증 — TOTP + 복구코드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737360" y="5623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 + Session pinning 결합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98480" y="5212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목적은 ‘상호 의존적 보안 격자(security lattice)’ — 어느 하나만으로는 불충분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4계층 분산 구조 — 모든 계층 Singapore 리전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212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WebGPU/WASM ONNX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3035808" y="2487168"/>
            <a:ext cx="201168" cy="146304"/>
          </a:xfrm>
          <a:prstGeom prst="rightTriangle">
            <a:avLst/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8288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212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+ Middleware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641848" y="2487168"/>
            <a:ext cx="201168" cy="146304"/>
          </a:xfrm>
          <a:prstGeom prst="rightTriangle">
            <a:avLst/>
          </a:prstGeom>
          <a:solidFill>
            <a:srgbClr val="00D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18288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212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pgvector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Storage + Edge Fn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247888" y="2487168"/>
            <a:ext cx="201168" cy="146304"/>
          </a:xfrm>
          <a:prstGeom prst="rightTriangle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18288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212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4964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ML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+ OpenCV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3291840"/>
            <a:ext cx="0" cy="54864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38862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A1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알림 (KST)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데이터 흐름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RTSP 카메라 → Railway ML → 얼굴 검출 + 임베딩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익명화 + AES-GCM 암호화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Supabase Storage 업로드 + Postgres 메타데이터 INSERT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매칭 시 Trigger → Telegram Bot → 실시간 알림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알고리즘 ① — ArcFace 임베딩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각도 마진 손실(Angular Margin Loss) 기반 512차원 임베딩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입력 영상 → RetinaFace 얼굴 검출 (conf ≥ 0.55)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14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Haar Cascade 보조 검출 (minNeighbors=8, 60×60)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정렬 + 크롭 (112×112)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InsightFace buffalo_l → 512-D L2 정규화 임베딩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pgvector cosine similarity 매칭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임계값 (Threshold)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965960"/>
            <a:ext cx="2743200" cy="457200"/>
          </a:xfrm>
          <a:prstGeom prst="rect">
            <a:avLst/>
          </a:prstGeom>
          <a:solidFill>
            <a:srgbClr val="00D4FF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965960"/>
            <a:ext cx="1188720" cy="457200"/>
          </a:xfrm>
          <a:prstGeom prst="rect">
            <a:avLst/>
          </a:prstGeom>
          <a:solidFill>
            <a:srgbClr val="00D4FF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41280" y="1965960"/>
            <a:ext cx="1371600" cy="457200"/>
          </a:xfrm>
          <a:prstGeom prst="rect">
            <a:avLst/>
          </a:prstGeom>
          <a:solidFill>
            <a:srgbClr val="00D4FF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423160"/>
            <a:ext cx="274320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발생 (ALERT_THRESHOLD)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2423160"/>
            <a:ext cx="118872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423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41280" y="2423160"/>
            <a:ext cx="137160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우선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880360"/>
            <a:ext cx="274320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제거 (DEDUP_THRESHOLD)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2880360"/>
            <a:ext cx="118872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2880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241280" y="2880360"/>
            <a:ext cx="137160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재인식 허용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3337560"/>
            <a:ext cx="274320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최적 (학습 기반)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52560" y="3337560"/>
            <a:ext cx="118872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241280" y="3337560"/>
            <a:ext cx="1371600" cy="45720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TP/FP 피드백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5720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1A1A3A"/>
          </a:solidFill>
          <a:ln w="12700">
            <a:solidFill>
              <a:srgbClr val="23D1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Feedback Loop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46520" y="4983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관리자가 알림에 TP/FP 라벨 부여 → suggested_threshold() RPC 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용의자별 F1-Optimal 임계값을 자동 계산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현장 운영 데이터에 적응하는 학습형 임계값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알고리즘 ② — 큐비스트 모자이크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보로노이 다각형 기반 비가역 익명화 (Custom Algorithm)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Scatter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내부에 18∼40 Voronoi seed point를 무작위 배치 (seed-deterministic)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175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Tessellate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3017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cv2.Subdiv2D 로 다각형 분할 → 비균일 폴리곤 셀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Color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셀의 평균 BGR 색상으로 채움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37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Blend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4937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경계에 약한 Gaussian blur(σ=1.5) 적용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 대비 강점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19659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2122A"/>
          </a:solidFill>
          <a:ln w="12700">
            <a:solidFill>
              <a:srgbClr val="FF38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240280"/>
            <a:ext cx="228600" cy="228600"/>
          </a:xfrm>
          <a:prstGeom prst="ellipse">
            <a:avLst/>
          </a:prstGeom>
          <a:solidFill>
            <a:srgbClr val="FF3860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(σ=21)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복원 공격에 취약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8346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2122A"/>
          </a:solidFill>
          <a:ln w="12700">
            <a:solidFill>
              <a:srgbClr val="FFD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108960"/>
            <a:ext cx="228600" cy="228600"/>
          </a:xfrm>
          <a:prstGeom prst="ellipse">
            <a:avLst/>
          </a:prstGeom>
          <a:solidFill>
            <a:srgbClr val="FFDD57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Pixelation (16×16)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Super-resolution으로 일부 복원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7033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2122A"/>
          </a:solidFill>
          <a:ln w="12700">
            <a:solidFill>
              <a:srgbClr val="FFDD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977640"/>
            <a:ext cx="228600" cy="228600"/>
          </a:xfrm>
          <a:prstGeom prst="ellipse">
            <a:avLst/>
          </a:prstGeom>
          <a:solidFill>
            <a:srgbClr val="FFDD57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Mask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손실 — 영상 분석 불가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45720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2122A"/>
          </a:solidFill>
          <a:ln w="12700">
            <a:solidFill>
              <a:srgbClr val="23D1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846320"/>
            <a:ext cx="228600" cy="228600"/>
          </a:xfrm>
          <a:prstGeom prst="ellipse">
            <a:avLst/>
          </a:prstGeom>
          <a:solidFill>
            <a:srgbClr val="23D160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Cubist Voronoi (제안)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비가역 / 시각적으로 인간 형상 유지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BLUR_PERSIST_FRAMES = 15 → 일시적 검출 누락에도 모자이크 15프레임 유지하여 ‘플리커링’ 방지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영상 암호화 + Dual-Key Rotation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 흐름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75688"/>
            <a:ext cx="292608" cy="2926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영상 + Cubist Mosaic 적용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670048"/>
            <a:ext cx="292608" cy="2926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HKDF-derived per-recording key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264408"/>
            <a:ext cx="292608" cy="2926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암호화 (12B IV + 16B tag)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58768"/>
            <a:ext cx="292608" cy="2926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Storage에 .enc 업로드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453128"/>
            <a:ext cx="292608" cy="2926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메타데이터(IV/tag)를 Postgres에 저장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키 회전 워크플로우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196596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키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NEW_KEY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생성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키를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ML_ENCRYPTION_KEY_PREV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 이동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키를 활성 환경 변수에 설정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영상은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NEW_KEY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 암호화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영상 복호화 → NEW 시도 실패 → PREV 자동 fallback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영상 재암호화 후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--finalize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 PREV 제거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무중단 키 회전 — 단일 명령어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3D1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rotate:keys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및 감사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다층 인증 + Append-only Hash-Chain Audit Log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2122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2단계 인증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Authenticator + SHA-256 해시 복구 코드 10개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2122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783080"/>
            <a:ext cx="640080" cy="6400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등 강력 기능 시 15분 한정 재인증 쿠키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2122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1783080"/>
            <a:ext cx="640080" cy="6400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8116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Pinning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IP/16 + UA fingerprint HMAC, 7일 TTL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2122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 Audit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526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체인, prev_hash 검증, 사후 조작 불가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35661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2122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794760"/>
            <a:ext cx="640080" cy="6400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4526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테이블 전체 RLS, admin/viewer 분리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35661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2122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9640" y="3794760"/>
            <a:ext cx="640080" cy="6400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8549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28116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49640" y="4526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reauth/min, 20 reveal/hour, recovery code REAUTH_LIMIT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A1A3A"/>
          </a:solidFill>
          <a:ln w="12700">
            <a:solidFill>
              <a:srgbClr val="23D1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무결성 검증 SQL  </a:t>
            </a:r>
            <a:pPr indent="0" marL="0">
              <a:buNone/>
            </a:pPr>
            <a:r>
              <a:rPr lang="en-US" sz="12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verify_audit_chain();</a:t>
            </a:r>
            <a:pPr indent="0" marL="0">
              <a:buNone/>
            </a:pPr>
            <a:r>
              <a:rPr lang="en-US" sz="11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 행이면 체인 완전 일치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pgvector — 11개 테이블, 전체 RLS 적용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5564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75564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5544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75564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58200" y="15544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75564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33172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53288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233172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53288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recordings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233172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53288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reveal_jobs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58200" y="233172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253288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1089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331012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31089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331012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370332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alert_rules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52160" y="31089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212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3310128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46177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512-D ArcFace 임베딩,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match_faces() / match_suspects()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RPC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audit_log.row_hash = SHA256(prev_hash || row)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notify_telegram_on_alert()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INSERT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D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suggested_threshold(p_suspect_id)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F1-optimal RPC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스택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운영 중인 기술 구성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212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274320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16 (App Router, typed routes)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 + TypeScript 5.7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+ Recharts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 Runtime Web (WebGPU + WASM fallback)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hls.js (HLS 스트리밍 재생)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155448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2122A"/>
          </a:solidFill>
          <a:ln w="19050">
            <a:solidFill>
              <a:srgbClr val="23D1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554480"/>
            <a:ext cx="2743200" cy="411480"/>
          </a:xfrm>
          <a:prstGeom prst="rect">
            <a:avLst/>
          </a:prstGeom>
          <a:solidFill>
            <a:srgbClr val="23D160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210312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PostgreSQL 17 + pgvector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Auth (이메일·TOTP)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Storage (5개 버킷)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Edge Functions (Telegram, Claude)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Edge Runtime (API Routes)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64224" y="155448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2122A"/>
          </a:solidFill>
          <a:ln w="19050">
            <a:solidFill>
              <a:srgbClr val="FFDD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554480"/>
            <a:ext cx="2743200" cy="411480"/>
          </a:xfrm>
          <a:prstGeom prst="rect">
            <a:avLst/>
          </a:prstGeom>
          <a:solidFill>
            <a:srgbClr val="FFDD57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47104" y="210312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3.11 + FastAPI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InsightFace buffalo_l (ArcFace 512-D)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OpenCV + FFmpeg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 Runtime (anti-spoof, fusion)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AES-256-GCM (cryptography library)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26296" y="155448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2122A"/>
          </a:solidFill>
          <a:ln w="19050">
            <a:solidFill>
              <a:srgbClr val="FF38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1554480"/>
            <a:ext cx="2743200" cy="411480"/>
          </a:xfrm>
          <a:prstGeom prst="rect">
            <a:avLst/>
          </a:prstGeom>
          <a:solidFill>
            <a:srgbClr val="FF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9226296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09176" y="210312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Sentry @sentry/nextjs 10.x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OpenTelemetry SDK (optional)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Speed Insights (Web Vitals)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CSP report-uri → Sentry warnings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/api/uptime probe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1A1A3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 </a:t>
            </a:r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mongolz.vercel.app</a:t>
            </a:r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ML:  </a:t>
            </a:r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mongolz-ml-production.up.railway.app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 데모 시연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인스턴스에서 실제 동작 확인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관리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7432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Admin/Viewer CRUD, 역할 토글, 비밀번호 재설정, 마지막 관리자 보호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3736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754380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규칙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43800" y="2331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/alert-rules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43800" y="27432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용의자·카메라 별 중복 제거 윈도우, 폭주 완화, 정숙 시간(22-06 KST)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0624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1920240" y="4297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능동 학습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48006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/active-learning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52120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TP/FP/Unknown 라벨링 → F1-Optimal 임계값 자동 제안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02336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1212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20624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7543800" y="4297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측정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43800" y="48006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/benchmarks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52120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레이턴시 p50/p95/p99 + Effective FPS 실시간 측정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데이터 — 3명 용의자 + 12 알림 + 3 규칙 + 2 웹훅 (모두 ‘demo:’ 접두사)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Latency / Throughput / Database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92608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01168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(ms)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554480"/>
            <a:ext cx="201168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(ms)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554480"/>
            <a:ext cx="201168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(ms)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0" y="1554480"/>
            <a:ext cx="192024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057400"/>
            <a:ext cx="29260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/embed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05740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205740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205740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0" y="2057400"/>
            <a:ext cx="192024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2606040"/>
            <a:ext cx="29260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/detect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66160" y="260604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77840" y="260604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260604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0" y="2606040"/>
            <a:ext cx="192024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3154680"/>
            <a:ext cx="29260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66160" y="315468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577840" y="315468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589520" y="3154680"/>
            <a:ext cx="201168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601200" y="3154680"/>
            <a:ext cx="1920240" cy="548640"/>
          </a:xfrm>
          <a:prstGeom prst="rect">
            <a:avLst/>
          </a:prstGeom>
          <a:solidFill>
            <a:srgbClr val="12122A"/>
          </a:solidFill>
          <a:ln w="6350">
            <a:solidFill>
              <a:srgbClr val="1A1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0080" y="4297680"/>
            <a:ext cx="5577840" cy="1737360"/>
          </a:xfrm>
          <a:prstGeom prst="roundRect">
            <a:avLst>
              <a:gd name="adj" fmla="val 5263"/>
            </a:avLst>
          </a:prstGeom>
          <a:solidFill>
            <a:srgbClr val="12122A"/>
          </a:solidFill>
          <a:ln w="12700">
            <a:solidFill>
              <a:srgbClr val="23D1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Uptime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2960" y="48463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응답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헬스 체크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ms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가용성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  (지난 7일)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00800" y="42976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2122A"/>
          </a:solidFill>
          <a:ln w="12700">
            <a:solidFill>
              <a:srgbClr val="FFDD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추론 환경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8368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asia-southeast1 (Singapore)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buffalo_l (ONNX)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추론 — GPU 없이 안정적 운용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i="1" dirty="0">
                <a:solidFill>
                  <a:srgbClr val="FFD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&lt; 200ms — 실시간 알림 가능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측정: 100회 반복 평균, 동일 RGB 영상 (1080p), Railway Singapore region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및 침투 시험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자동화 테스트 + 12단계 침투 시험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12122A"/>
          </a:solidFill>
          <a:ln w="19050">
            <a:solidFill>
              <a:srgbClr val="23D1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테스트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All Green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(TypeScript)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33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복구, stream tickets, crypto,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helpers, webhooks, session-pin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(Python)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63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anti-spoof, embedding fusion, dedup,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alert rules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침투 시험 결과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신규 admin 라우트 307 redirect (인증 게이트)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46888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/api/uptime 200 OK (의도된 공개 엔드포인트)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/api/csp-report POST-only (GET 405)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47472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/docs 404 (정보 노출 해소)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77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generic HMAC 서명 검증 통과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448056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480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pinning soft-enforce (기존 세션 무중단)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98348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983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복구 코드 단일 사용 + timing-safe 비교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5486400"/>
            <a:ext cx="5120640" cy="457200"/>
          </a:xfrm>
          <a:prstGeom prst="rect">
            <a:avLst/>
          </a:prstGeom>
          <a:solidFill>
            <a:srgbClr val="12122A"/>
          </a:solidFill>
          <a:ln w="3810">
            <a:solidFill>
              <a:srgbClr val="1A1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486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자격 viewer 역할 노출 안 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연구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Limitations and Future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12122A"/>
          </a:solidFill>
          <a:ln w="12700">
            <a:solidFill>
              <a:srgbClr val="23D1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D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기여 — 5가지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292608" cy="292608"/>
          </a:xfrm>
          <a:prstGeom prst="ellipse">
            <a:avLst/>
          </a:prstGeom>
          <a:solidFill>
            <a:srgbClr val="23D16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개념적 기여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‘추적성+비식별성’ 동시 달성의 정형화 + 평가 메트릭 제시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926080"/>
            <a:ext cx="292608" cy="292608"/>
          </a:xfrm>
          <a:prstGeom prst="ellipse">
            <a:avLst/>
          </a:prstGeom>
          <a:solidFill>
            <a:srgbClr val="23D16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큐비스트 모자이크 — LPIPS·SSIM 비교 분석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23D16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운영적 기여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이중 키 회전 — 단일 npm 명령으로 무중단 회전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480560"/>
            <a:ext cx="292608" cy="292608"/>
          </a:xfrm>
          <a:prstGeom prst="ellipse">
            <a:avLst/>
          </a:prstGeom>
          <a:solidFill>
            <a:srgbClr val="23D16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공학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+ 해시 체인 + 단계 인증 + 세션 핀닝 통합 패턴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257800"/>
            <a:ext cx="292608" cy="292608"/>
          </a:xfrm>
          <a:prstGeom prst="ellipse">
            <a:avLst/>
          </a:prstGeom>
          <a:solidFill>
            <a:srgbClr val="23D16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5212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Vercel/Supabase/Railway 무중단 배포 IaC 공개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155448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12122A"/>
          </a:solidFill>
          <a:ln w="12700">
            <a:solidFill>
              <a:srgbClr val="FFDD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및 향후 연구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210312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한계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Vercel Hobby 4.5MB 업로드 제한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Anti-spoof는 휴리스틱 기반 (CNN 미적용)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단일 조직 운영 — 연합 학습 미지원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CNN 기반 anti-spoof (3D 얼굴 깊이)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Edge inference — 카메라 단 추론 + 동형 암호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Federated learning — 다조직 공유 없는 학습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Differential privacy 임베딩 노이즈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WebAuthn / Passkey 기반 무비밀번호 인증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정량적 LPIPS 사용자 평가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MONGOLZ Security · Capstone 3B-26-1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spc="30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환영합니다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0" y="5120640"/>
            <a:ext cx="3657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 </a:t>
            </a:r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mongolz.vercel.app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Service:  </a:t>
            </a:r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mongolz-ml-production.up.railway.app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Capstone 3B-26-1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다중 권한 마스킹 및 복원이 가능한 지능형 네트워크 카메라 및 통합관제 서버 개발</dc:title>
  <dc:subject>PptxGenJS Presentation</dc:subject>
  <dc:creator>MONGOLZ Security Capstone</dc:creator>
  <cp:lastModifiedBy>MONGOLZ Security Capstone</cp:lastModifiedBy>
  <cp:revision>1</cp:revision>
  <dcterms:created xsi:type="dcterms:W3CDTF">2026-05-15T14:23:40Z</dcterms:created>
  <dcterms:modified xsi:type="dcterms:W3CDTF">2026-05-15T14:23:40Z</dcterms:modified>
</cp:coreProperties>
</file>